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j1wIwquFpnTnDhP4+w4dCrgQ2T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945039" y="946449"/>
            <a:ext cx="7243763" cy="325060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8" name="Google Shape;18;p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50531" y="1525079"/>
            <a:ext cx="64293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1357313" y="2617208"/>
            <a:ext cx="6429375" cy="502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1469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3293"/>
              <a:buFont typeface="Calibri"/>
              <a:buNone/>
            </a:pPr>
            <a:r>
              <a:rPr lang="en-US" sz="3293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 sz="32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428625" y="71323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Introdução ao Bootstrap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" name="Google Shape;31;p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625" y="162227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728663" y="1793723"/>
            <a:ext cx="3771900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Base Técnica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728663" y="2070543"/>
            <a:ext cx="3771900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Escolha do framework Bootstrap para garantir uma estrutura sólida e moderna.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" name="Google Shape;34;p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2527743"/>
            <a:ext cx="214313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728663" y="2699193"/>
            <a:ext cx="3731354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Colaboração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28663" y="2976014"/>
            <a:ext cx="3731354" cy="230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Henrique Alves, Pedro Rodrigues, Anderson Ribeiro, Gustavo Teixeira.</a:t>
            </a:r>
            <a:endParaRPr sz="942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643438" y="1465111"/>
            <a:ext cx="407193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" name="Google Shape;38;p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57910" y="2298250"/>
            <a:ext cx="642938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6255386" y="2912613"/>
            <a:ext cx="848013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Bootstrap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3"/>
          <p:cNvSpPr/>
          <p:nvPr/>
        </p:nvSpPr>
        <p:spPr>
          <a:xfrm>
            <a:off x="428625" y="71323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O que é o Bootstrap e por que ele é essencial?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28625" y="1465111"/>
            <a:ext cx="3246109" cy="3362474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600075" y="1836586"/>
            <a:ext cx="2903209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97"/>
              <a:buFont typeface="Calibri"/>
              <a:buNone/>
            </a:pPr>
            <a:r>
              <a:rPr lang="en-US" sz="139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Framework Front-end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00075" y="2245565"/>
            <a:ext cx="2903209" cy="8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642"/>
              </a:lnSpc>
              <a:buClr>
                <a:srgbClr val="495057"/>
              </a:buClr>
              <a:buSzPts val="996"/>
            </a:pPr>
            <a:r>
              <a:rPr lang="pt-BR" sz="700" dirty="0"/>
              <a:t>O </a:t>
            </a:r>
            <a:r>
              <a:rPr lang="pt-BR" sz="700" dirty="0" err="1"/>
              <a:t>Bootstrap</a:t>
            </a:r>
            <a:r>
              <a:rPr lang="pt-BR" sz="700" dirty="0"/>
              <a:t> é um framework de CSS e </a:t>
            </a:r>
            <a:r>
              <a:rPr lang="pt-BR" sz="700" dirty="0" err="1"/>
              <a:t>JavaScript</a:t>
            </a:r>
            <a:r>
              <a:rPr lang="pt-BR" sz="700" dirty="0"/>
              <a:t> que facilita muito a criação de sites responsivos e com design profissional. Em vez de você escrever todo o CSS do zero, o </a:t>
            </a:r>
            <a:r>
              <a:rPr lang="pt-BR" sz="700" dirty="0" err="1"/>
              <a:t>Bootstrap</a:t>
            </a:r>
            <a:r>
              <a:rPr lang="pt-BR" sz="700" dirty="0"/>
              <a:t> já vem com classes prontas que você só precisa adicionar aos elementos HTML, economizando muito tempo de desenvolvimento.</a:t>
            </a:r>
            <a:endParaRPr sz="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00075" y="3202828"/>
            <a:ext cx="2903209" cy="1439019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600075" y="3202828"/>
            <a:ext cx="28575" cy="1439019"/>
          </a:xfrm>
          <a:prstGeom prst="rect">
            <a:avLst/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707231" y="3480988"/>
            <a:ext cx="2688896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885"/>
              <a:buFont typeface="Calibri"/>
              <a:buNone/>
            </a:pPr>
            <a:r>
              <a:rPr lang="en-US" sz="885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História e Criação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07231" y="3770309"/>
            <a:ext cx="2688896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 dirty="0" err="1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Desenvolvido</a:t>
            </a:r>
            <a:r>
              <a:rPr lang="en-US" sz="834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34" b="0" i="0" u="none" strike="noStrike" cap="none" dirty="0" err="1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originalmente</a:t>
            </a:r>
            <a:r>
              <a:rPr lang="en-US" sz="834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no </a:t>
            </a:r>
            <a:r>
              <a:rPr lang="en-US" sz="784" b="1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Twitter</a:t>
            </a:r>
            <a:r>
              <a:rPr lang="en-US" sz="834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34" b="0" i="0" u="none" strike="noStrike" cap="none" dirty="0" err="1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em</a:t>
            </a:r>
            <a:r>
              <a:rPr lang="en-US" sz="834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2010 (</a:t>
            </a:r>
            <a:r>
              <a:rPr lang="en-US" sz="834" b="0" i="0" u="none" strike="noStrike" cap="none" dirty="0" err="1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lang="en-US" sz="834" b="0" i="0" u="none" strike="noStrike" cap="none" dirty="0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Twitter Blueprint).</a:t>
            </a:r>
            <a:endParaRPr sz="834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" name="Google Shape;54;p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7231" y="4232867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3"/>
          <p:cNvSpPr/>
          <p:nvPr/>
        </p:nvSpPr>
        <p:spPr>
          <a:xfrm>
            <a:off x="832247" y="4184647"/>
            <a:ext cx="1220688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885"/>
              <a:buFont typeface="Calibri"/>
              <a:buNone/>
            </a:pPr>
            <a:r>
              <a:rPr lang="en-US" sz="885" b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85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Mark Otto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7231" y="4407889"/>
            <a:ext cx="125016" cy="10001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"/>
          <p:cNvSpPr/>
          <p:nvPr/>
        </p:nvSpPr>
        <p:spPr>
          <a:xfrm>
            <a:off x="832247" y="4359669"/>
            <a:ext cx="1434666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5593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885"/>
              <a:buFont typeface="Calibri"/>
              <a:buNone/>
            </a:pPr>
            <a:r>
              <a:rPr lang="en-US" sz="885" b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885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Jacob Thornton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846184" y="1507973"/>
            <a:ext cx="2571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3"/>
          <p:cNvSpPr/>
          <p:nvPr/>
        </p:nvSpPr>
        <p:spPr>
          <a:xfrm>
            <a:off x="4189084" y="1507973"/>
            <a:ext cx="2027402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Agilidade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189084" y="1784793"/>
            <a:ext cx="2027402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Componentes pré-construídos reduzem o tempo de codificação.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" name="Google Shape;61;p3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5073" y="1507973"/>
            <a:ext cx="2571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3"/>
          <p:cNvSpPr/>
          <p:nvPr/>
        </p:nvSpPr>
        <p:spPr>
          <a:xfrm>
            <a:off x="6687973" y="1507973"/>
            <a:ext cx="2027402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Responsividade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687973" y="1784793"/>
            <a:ext cx="2027402" cy="57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Layouts adaptáveis a qualquer tamanho de tela automaticamente.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3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46184" y="2549175"/>
            <a:ext cx="2571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4189084" y="2549175"/>
            <a:ext cx="2027402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Padronização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189084" y="2825995"/>
            <a:ext cx="2027402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Garante uma interface coesa e consistente em todo o projeto.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3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345073" y="2549175"/>
            <a:ext cx="25717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6687973" y="2549175"/>
            <a:ext cx="2027402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Comunidade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687973" y="2825995"/>
            <a:ext cx="2027402" cy="578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23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Suporte global e documentação abrangente para desenvolvedores.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428625" y="71323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O que é o Bootstrap e como começar?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7" name="Google Shape;77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8625" y="1407961"/>
            <a:ext cx="125016" cy="38933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39366" y="1407961"/>
            <a:ext cx="3384798" cy="3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Biblioteca</a:t>
            </a:r>
            <a:r>
              <a:rPr lang="en-US" sz="987" b="1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de Código </a:t>
            </a:r>
            <a:r>
              <a:rPr lang="en-US" sz="987" b="1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Aberto</a:t>
            </a:r>
            <a:r>
              <a:rPr lang="en-US" sz="987" b="1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Componentes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de interface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prontos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para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uso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87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9" name="Google Shape;7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8625" y="1897307"/>
            <a:ext cx="107156" cy="38933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621506" y="1897307"/>
            <a:ext cx="3402657" cy="3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Uso via CDN:</a:t>
            </a:r>
            <a:r>
              <a:rPr lang="en-US" sz="105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Método mais rápido, carregando estilos de servidores externos.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8625" y="2386654"/>
            <a:ext cx="142875" cy="38933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/>
          <p:nvPr/>
        </p:nvSpPr>
        <p:spPr>
          <a:xfrm>
            <a:off x="657225" y="2386654"/>
            <a:ext cx="3366939" cy="38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Praticidade</a:t>
            </a:r>
            <a:r>
              <a:rPr lang="en-US" sz="987" b="1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Ative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o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poder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do framework com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apenas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uma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linha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de </a:t>
            </a:r>
            <a:r>
              <a:rPr lang="en-US" sz="1050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código</a:t>
            </a:r>
            <a:r>
              <a:rPr lang="en-US" sz="1050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987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4309914" y="1407961"/>
            <a:ext cx="1423783" cy="192881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4309914" y="1407961"/>
            <a:ext cx="1423783" cy="192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7500" tIns="34025" rIns="127500" bIns="34025" anchor="t" anchorCtr="0">
            <a:spAutoFit/>
          </a:bodyPr>
          <a:lstStyle/>
          <a:p>
            <a:pPr marL="0" marR="0" lvl="0" indent="0" algn="l" rtl="0">
              <a:lnSpc>
                <a:spcPct val="13177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3"/>
              <a:buFont typeface="Calibri"/>
              <a:buNone/>
            </a:pPr>
            <a:r>
              <a:rPr lang="en-US" sz="683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Implementação via CDN</a:t>
            </a:r>
            <a:endParaRPr sz="68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309914" y="1657992"/>
            <a:ext cx="4405461" cy="900113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4395639" y="1743717"/>
            <a:ext cx="4234011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&lt;!-- Link no &lt;head&gt; --&gt;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4395639" y="1958029"/>
            <a:ext cx="4234011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7865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&lt;link href="https://cdn.jsdelivr.net/npm/bootstrap@5.3.3/dist/css/bootstrap.min.css" rel="stylesheet"&gt;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4309914" y="2643829"/>
            <a:ext cx="4405461" cy="1428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4452789" y="2786704"/>
            <a:ext cx="4119711" cy="61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885"/>
              <a:buFont typeface="Calibri"/>
              <a:buNone/>
            </a:pPr>
            <a:r>
              <a:rPr lang="en-US" sz="885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Conceito:</a:t>
            </a:r>
            <a:r>
              <a:rPr lang="en-US" sz="942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Em vez de baixar arquivos, o navegador busca as regras de estilo diretamente do servidor do Bootstrap, garantindo agilidade e economia de espaço.</a:t>
            </a:r>
            <a:endParaRPr sz="88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5"/>
          <p:cNvSpPr/>
          <p:nvPr/>
        </p:nvSpPr>
        <p:spPr>
          <a:xfrm>
            <a:off x="428625" y="71323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Implementação Técnica: Classes Utilitárias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428625" y="1465111"/>
            <a:ext cx="4057650" cy="33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0" anchor="t" anchorCtr="0">
            <a:spAutoFit/>
          </a:bodyPr>
          <a:lstStyle/>
          <a:p>
            <a:pPr marL="0" marR="0" lvl="0" indent="0" algn="ctr" rtl="0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486"/>
              <a:buFont typeface="Calibri"/>
              <a:buNone/>
            </a:pPr>
            <a:r>
              <a:rPr lang="en-US" sz="1486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Abordagem CSS Puro</a:t>
            </a:r>
            <a:endParaRPr sz="148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28625" y="1881234"/>
            <a:ext cx="4057650" cy="12108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514350" y="2081259"/>
            <a:ext cx="3886200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784"/>
              <a:buFont typeface="Calibri"/>
              <a:buNone/>
            </a:pPr>
            <a:r>
              <a:rPr lang="en-US" sz="784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Centralização e Tela Cheia:</a:t>
            </a:r>
            <a:r>
              <a:rPr lang="en-US" sz="834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Requer múltiplas propriedades para definir altura e comportamento flexível.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514350" y="2506312"/>
            <a:ext cx="3886200" cy="585788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514350" y="2506312"/>
            <a:ext cx="3886200" cy="585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51050" rIns="85075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727"/>
              <a:buFont typeface="Calibri"/>
              <a:buNone/>
            </a:pP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height: 100vh;</a:t>
            </a:r>
            <a:b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 display: flex;</a:t>
            </a:r>
            <a:b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 align-items: center;</a:t>
            </a:r>
            <a:b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 justify-content: center;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28625" y="3092100"/>
            <a:ext cx="4057650" cy="942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14350" y="3292125"/>
            <a:ext cx="3886200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784"/>
              <a:buFont typeface="Calibri"/>
              <a:buNone/>
            </a:pPr>
            <a:r>
              <a:rPr lang="en-US" sz="784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Alinhamento de Texto:</a:t>
            </a:r>
            <a:r>
              <a:rPr lang="en-US" sz="834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Necessidade de criar classes específicas para cada direção e margem.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14350" y="3717178"/>
            <a:ext cx="3886200" cy="314325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14350" y="3717178"/>
            <a:ext cx="388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51050" rIns="85075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F8F9FA"/>
              </a:buClr>
              <a:buSzPts val="727"/>
              <a:buFont typeface="Calibri"/>
              <a:buNone/>
            </a:pP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text-align: left;</a:t>
            </a:r>
            <a:b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727" b="0" i="0" u="none" strike="noStrike" cap="none">
                <a:solidFill>
                  <a:srgbClr val="F8F9FA"/>
                </a:solidFill>
                <a:latin typeface="Calibri"/>
                <a:ea typeface="Calibri"/>
                <a:cs typeface="Calibri"/>
                <a:sym typeface="Calibri"/>
              </a:rPr>
              <a:t> margin-left: 1rem;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4657725" y="1465111"/>
            <a:ext cx="4057650" cy="330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1050" rIns="0" bIns="0" anchor="t" anchorCtr="0">
            <a:spAutoFit/>
          </a:bodyPr>
          <a:lstStyle/>
          <a:p>
            <a:pPr marL="0" marR="0" lvl="0" indent="0" algn="ctr" rtl="0">
              <a:lnSpc>
                <a:spcPct val="127860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486"/>
              <a:buFont typeface="Calibri"/>
              <a:buNone/>
            </a:pPr>
            <a:r>
              <a:rPr lang="en-US" sz="1486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Abordagem Bootstrap</a:t>
            </a:r>
            <a:endParaRPr sz="148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4657725" y="1881234"/>
            <a:ext cx="4057650" cy="942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4743450" y="2081259"/>
            <a:ext cx="3886200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784"/>
              <a:buFont typeface="Calibri"/>
              <a:buNone/>
            </a:pPr>
            <a:r>
              <a:rPr lang="en-US" sz="784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Classes Utilitárias:</a:t>
            </a:r>
            <a:r>
              <a:rPr lang="en-US" sz="834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Posicionamento instantâneo diretamente no atributo class do HTML.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4743450" y="2506312"/>
            <a:ext cx="3886200" cy="178594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4743450" y="2506312"/>
            <a:ext cx="3886200" cy="17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51050" rIns="85075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27"/>
              <a:buFont typeface="Calibri"/>
              <a:buNone/>
            </a:pPr>
            <a:r>
              <a:rPr lang="en-US" sz="727" b="0" i="0" u="none" strike="noStrike" cap="none">
                <a:solidFill>
                  <a:srgbClr val="A5D6FF"/>
                </a:solidFill>
                <a:latin typeface="Calibri"/>
                <a:ea typeface="Calibri"/>
                <a:cs typeface="Calibri"/>
                <a:sym typeface="Calibri"/>
              </a:rPr>
              <a:t>class="vh-100 d-flex align-items-center justify-content-center"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4657725" y="2824209"/>
            <a:ext cx="4057650" cy="9429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4743450" y="3024234"/>
            <a:ext cx="3886200" cy="310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89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784"/>
              <a:buFont typeface="Calibri"/>
              <a:buNone/>
            </a:pPr>
            <a:r>
              <a:rPr lang="en-US" sz="784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Rapidez e Padronização:</a:t>
            </a:r>
            <a:r>
              <a:rPr lang="en-US" sz="834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Uso de abreviações universais para alinhamento e espaçamento.</a:t>
            </a:r>
            <a:endParaRPr sz="7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743450" y="3449287"/>
            <a:ext cx="3886200" cy="178594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743450" y="3449287"/>
            <a:ext cx="3886200" cy="178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51050" rIns="85075" bIns="0" anchor="t" anchorCtr="0">
            <a:spAutoFit/>
          </a:bodyPr>
          <a:lstStyle/>
          <a:p>
            <a:pPr marL="0" marR="0" lvl="0" indent="0" algn="l" rtl="0">
              <a:lnSpc>
                <a:spcPct val="123796"/>
              </a:lnSpc>
              <a:spcBef>
                <a:spcPts val="0"/>
              </a:spcBef>
              <a:spcAft>
                <a:spcPts val="0"/>
              </a:spcAft>
              <a:buClr>
                <a:srgbClr val="A5D6FF"/>
              </a:buClr>
              <a:buSzPts val="727"/>
              <a:buFont typeface="Calibri"/>
              <a:buNone/>
            </a:pPr>
            <a:r>
              <a:rPr lang="en-US" sz="727" b="0" i="0" u="none" strike="noStrike" cap="none">
                <a:solidFill>
                  <a:srgbClr val="A5D6FF"/>
                </a:solidFill>
                <a:latin typeface="Calibri"/>
                <a:ea typeface="Calibri"/>
                <a:cs typeface="Calibri"/>
                <a:sym typeface="Calibri"/>
              </a:rPr>
              <a:t>class="text-start ms-3"</a:t>
            </a:r>
            <a:endParaRPr sz="72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428625" y="713231"/>
            <a:ext cx="8286750" cy="93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Por que escolher o Bootstrap? Vantagens Estratégicas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28625" y="1788365"/>
            <a:ext cx="4114800" cy="11287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5344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942975" y="1902665"/>
            <a:ext cx="930139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Velocidade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571500" y="2208061"/>
            <a:ext cx="382905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Desenvolvimento acelerado sem a necessidade de reinventar componentes comuns como menus e grids.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600575" y="1788365"/>
            <a:ext cx="4114800" cy="11287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7" name="Google Shape;127;p6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743450" y="1905344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5029200" y="1902665"/>
            <a:ext cx="1021333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Mobile-First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743450" y="2208061"/>
            <a:ext cx="382905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O site já nasce preparado para dispositivos móveis, garantindo responsividade sem código extra complexo.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28625" y="2959940"/>
            <a:ext cx="4114800" cy="11287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1" name="Google Shape;131;p6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076919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6"/>
          <p:cNvSpPr/>
          <p:nvPr/>
        </p:nvSpPr>
        <p:spPr>
          <a:xfrm>
            <a:off x="914400" y="3074240"/>
            <a:ext cx="1150283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Padronização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71500" y="3379636"/>
            <a:ext cx="382905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Linguagem universal entre programadores, facilitando a manutenção e o entendimento do código por terceiros.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600575" y="2959940"/>
            <a:ext cx="4114800" cy="1128713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5" name="Google Shape;135;p6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43450" y="3076919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/>
          <p:nvPr/>
        </p:nvSpPr>
        <p:spPr>
          <a:xfrm>
            <a:off x="5143500" y="3074240"/>
            <a:ext cx="1083227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93"/>
              <a:buFont typeface="Calibri"/>
              <a:buNone/>
            </a:pPr>
            <a:r>
              <a:rPr lang="en-US" sz="1193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Comunidade</a:t>
            </a: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743450" y="3379636"/>
            <a:ext cx="3829050" cy="411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9851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 biblioteca mais usada do mundo, com milhares de soluções prontas e suporte global constante.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" y="57150"/>
            <a:ext cx="90297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485775" y="77038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Bootstrap no Mercado Global: Quem usa?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485775" y="1436536"/>
            <a:ext cx="2705081" cy="16287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1592331" y="1579411"/>
            <a:ext cx="491970" cy="173236"/>
          </a:xfrm>
          <a:prstGeom prst="roundRect">
            <a:avLst>
              <a:gd name="adj" fmla="val 16667"/>
            </a:avLst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592331" y="1579411"/>
            <a:ext cx="49197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34025" rIns="85075" bIns="34025" anchor="t" anchorCtr="0">
            <a:spAutoFit/>
          </a:bodyPr>
          <a:lstStyle/>
          <a:p>
            <a:pPr marL="0" marR="0" lvl="0" indent="0" algn="ctr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584"/>
              <a:buFont typeface="Calibri"/>
              <a:buNone/>
            </a:pPr>
            <a:r>
              <a:rPr lang="en-US" sz="584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Origem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6866" y="180979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/>
          <p:nvPr/>
        </p:nvSpPr>
        <p:spPr>
          <a:xfrm>
            <a:off x="1426685" y="2252709"/>
            <a:ext cx="823233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90"/>
              <a:buFont typeface="Calibri"/>
              <a:buNone/>
            </a:pPr>
            <a:r>
              <a:rPr lang="en-US" sz="109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Twitter (X)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614363" y="2524172"/>
            <a:ext cx="2447906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Criado por engenheiros do Twitter para padronizar ferramentas internas.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3276581" y="1436536"/>
            <a:ext cx="2705109" cy="16287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304416" y="1579411"/>
            <a:ext cx="649439" cy="173236"/>
          </a:xfrm>
          <a:prstGeom prst="roundRect">
            <a:avLst>
              <a:gd name="adj" fmla="val 16667"/>
            </a:avLst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4304416" y="1579411"/>
            <a:ext cx="649439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34025" rIns="85075" bIns="34025" anchor="t" anchorCtr="0">
            <a:spAutoFit/>
          </a:bodyPr>
          <a:lstStyle/>
          <a:p>
            <a:pPr marL="0" marR="0" lvl="0" indent="0" algn="ctr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584"/>
              <a:buFont typeface="Calibri"/>
              <a:buNone/>
            </a:pPr>
            <a:r>
              <a:rPr lang="en-US" sz="584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Streaming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63030" y="1809797"/>
            <a:ext cx="332184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4354255" y="2252709"/>
            <a:ext cx="549762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90"/>
              <a:buFont typeface="Calibri"/>
              <a:buNone/>
            </a:pPr>
            <a:r>
              <a:rPr lang="en-US" sz="109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Spotify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05169" y="2524172"/>
            <a:ext cx="244793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Utiliza estruturas do framework em suas páginas web.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6067416" y="1436536"/>
            <a:ext cx="2705081" cy="162877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7114226" y="1579411"/>
            <a:ext cx="611460" cy="173236"/>
          </a:xfrm>
          <a:prstGeom prst="roundRect">
            <a:avLst>
              <a:gd name="adj" fmla="val 16667"/>
            </a:avLst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7114226" y="1579411"/>
            <a:ext cx="611460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34025" rIns="85075" bIns="34025" anchor="t" anchorCtr="0">
            <a:spAutoFit/>
          </a:bodyPr>
          <a:lstStyle/>
          <a:p>
            <a:pPr marL="0" marR="0" lvl="0" indent="0" algn="ctr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584"/>
              <a:buFont typeface="Calibri"/>
              <a:buNone/>
            </a:pPr>
            <a:r>
              <a:rPr lang="en-US" sz="584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Educação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5644" y="1809797"/>
            <a:ext cx="4286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"/>
          <p:cNvSpPr/>
          <p:nvPr/>
        </p:nvSpPr>
        <p:spPr>
          <a:xfrm>
            <a:off x="7142466" y="2252709"/>
            <a:ext cx="554952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90"/>
              <a:buFont typeface="Calibri"/>
              <a:buNone/>
            </a:pPr>
            <a:r>
              <a:rPr lang="en-US" sz="109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Udemy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6196003" y="2524172"/>
            <a:ext cx="2447906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Plataforma de cursos que adota grids do Bootstrap.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85775" y="3122461"/>
            <a:ext cx="2705081" cy="165735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1450656" y="3265336"/>
            <a:ext cx="775292" cy="173236"/>
          </a:xfrm>
          <a:prstGeom prst="roundRect">
            <a:avLst>
              <a:gd name="adj" fmla="val 16667"/>
            </a:avLst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1450656" y="3265336"/>
            <a:ext cx="775292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34025" rIns="85075" bIns="34025" anchor="t" anchorCtr="0">
            <a:spAutoFit/>
          </a:bodyPr>
          <a:lstStyle/>
          <a:p>
            <a:pPr marL="0" marR="0" lvl="0" indent="0" algn="ctr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584"/>
              <a:buFont typeface="Calibri"/>
              <a:buNone/>
            </a:pPr>
            <a:r>
              <a:rPr lang="en-US" sz="584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Profissional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88297" y="3495722"/>
            <a:ext cx="300038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/>
          <p:nvPr/>
        </p:nvSpPr>
        <p:spPr>
          <a:xfrm>
            <a:off x="1491202" y="3938634"/>
            <a:ext cx="694199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90"/>
              <a:buFont typeface="Calibri"/>
              <a:buNone/>
            </a:pPr>
            <a:r>
              <a:rPr lang="en-US" sz="109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14363" y="4210097"/>
            <a:ext cx="2447906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Aplica estruturas similares para layouts administrativos.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276581" y="3122461"/>
            <a:ext cx="2705100" cy="16575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4381295" y="3265336"/>
            <a:ext cx="495653" cy="173236"/>
          </a:xfrm>
          <a:prstGeom prst="roundRect">
            <a:avLst>
              <a:gd name="adj" fmla="val 16667"/>
            </a:avLst>
          </a:prstGeom>
          <a:solidFill>
            <a:srgbClr val="E9EC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381295" y="3265336"/>
            <a:ext cx="495653" cy="173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5075" tIns="34025" rIns="85075" bIns="34025" anchor="t" anchorCtr="0">
            <a:spAutoFit/>
          </a:bodyPr>
          <a:lstStyle/>
          <a:p>
            <a:pPr marL="0" marR="0" lvl="0" indent="0" algn="ctr" rtl="0">
              <a:lnSpc>
                <a:spcPct val="136986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584"/>
              <a:buFont typeface="Calibri"/>
              <a:buNone/>
            </a:pPr>
            <a:r>
              <a:rPr lang="en-US" sz="584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Ciência</a:t>
            </a:r>
            <a:endParaRPr sz="58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57672" y="349572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4413498" y="3938634"/>
            <a:ext cx="431276" cy="214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4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90"/>
              <a:buFont typeface="Calibri"/>
              <a:buNone/>
            </a:pPr>
            <a:r>
              <a:rPr lang="en-US" sz="1090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NASA</a:t>
            </a:r>
            <a:endParaRPr sz="109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405169" y="4210097"/>
            <a:ext cx="2447934" cy="320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875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834"/>
              <a:buFont typeface="Calibri"/>
              <a:buNone/>
            </a:pPr>
            <a:r>
              <a:rPr lang="en-US" sz="834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Portais públicos e internos usam o framework pela manutenção.</a:t>
            </a:r>
            <a:endParaRPr sz="83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067416" y="3122461"/>
            <a:ext cx="2705100" cy="1657500"/>
          </a:xfrm>
          <a:prstGeom prst="rect">
            <a:avLst/>
          </a:prstGeom>
          <a:solidFill>
            <a:srgbClr val="7952B3"/>
          </a:solidFill>
          <a:ln w="9525" cap="flat" cmpd="sng">
            <a:solidFill>
              <a:srgbClr val="7952B3">
                <a:alpha val="98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418325" y="3807368"/>
            <a:ext cx="2003264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97"/>
              <a:buFont typeface="Calibri"/>
              <a:buNone/>
            </a:pPr>
            <a:r>
              <a:rPr lang="en-US" sz="1397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+12 Milhões de Sites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642938" y="713231"/>
            <a:ext cx="7858125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Detalhando os "Códigos </a:t>
            </a:r>
            <a:r>
              <a:rPr lang="en-US" sz="2436" b="1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Utilizados</a:t>
            </a: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42938" y="1293661"/>
            <a:ext cx="7858125" cy="528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4705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785813" y="1396352"/>
            <a:ext cx="1428750" cy="308967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785813" y="1396352"/>
            <a:ext cx="142875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025" tIns="68050" rIns="153025" bIns="6805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vh-100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2328863" y="1350811"/>
            <a:ext cx="6029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Viewport Height:</a:t>
            </a:r>
            <a:r>
              <a:rPr lang="en-US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Define a altura do elemento como 100% da altura total da janela do navegador.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42938" y="1865161"/>
            <a:ext cx="7858125" cy="528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4705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785813" y="1967852"/>
            <a:ext cx="1428750" cy="308967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785813" y="1967852"/>
            <a:ext cx="142875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025" tIns="68050" rIns="153025" bIns="6805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d-flex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28863" y="1922311"/>
            <a:ext cx="6029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Display Flex:</a:t>
            </a:r>
            <a:r>
              <a:rPr lang="en-US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Ativa o modelo de layout Flexbox, permitindo alinhar e distribuir espaço entre itens.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42938" y="2436661"/>
            <a:ext cx="7858125" cy="528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4705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785813" y="2539352"/>
            <a:ext cx="1428750" cy="308967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785813" y="2539352"/>
            <a:ext cx="142875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025" tIns="68050" rIns="153025" bIns="6805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text-start/end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328863" y="2493811"/>
            <a:ext cx="6029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Alinhamento:</a:t>
            </a:r>
            <a:r>
              <a:rPr lang="en-US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Substitui o antigo 'left' e 'right', alinhando o texto ao início ou ao fim do container.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642938" y="3008161"/>
            <a:ext cx="7858125" cy="528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4705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85813" y="3110852"/>
            <a:ext cx="1428750" cy="308967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785813" y="3110852"/>
            <a:ext cx="142875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025" tIns="68050" rIns="153025" bIns="6805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ms-3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2328863" y="3065311"/>
            <a:ext cx="6029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Margin Start:</a:t>
            </a:r>
            <a:r>
              <a:rPr lang="en-US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Aplica uma margem à esquerda (nível 3 na escala Bootstrap) para criar respiro visual.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42938" y="3579661"/>
            <a:ext cx="7858125" cy="5286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4705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785813" y="3682352"/>
            <a:ext cx="1428750" cy="308967"/>
          </a:xfrm>
          <a:prstGeom prst="roundRect">
            <a:avLst>
              <a:gd name="adj" fmla="val 16667"/>
            </a:avLst>
          </a:prstGeom>
          <a:solidFill>
            <a:srgbClr val="7952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785813" y="3682352"/>
            <a:ext cx="1428750" cy="308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3025" tIns="68050" rIns="153025" bIns="6805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justify-center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2328863" y="3636811"/>
            <a:ext cx="6029325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238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987"/>
              <a:buFont typeface="Calibri"/>
              <a:buNone/>
            </a:pPr>
            <a:r>
              <a:rPr lang="en-US" sz="98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Eixo Principal:</a:t>
            </a:r>
            <a:r>
              <a:rPr lang="en-US" sz="1050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 Centraliza horizontalmente todos os elementos filhos dentro de um container flexível.</a:t>
            </a:r>
            <a:endParaRPr sz="98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9"/>
          <p:cNvSpPr/>
          <p:nvPr/>
        </p:nvSpPr>
        <p:spPr>
          <a:xfrm>
            <a:off x="428625" y="713231"/>
            <a:ext cx="8286750" cy="46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362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436"/>
              <a:buFont typeface="Calibri"/>
              <a:buNone/>
            </a:pPr>
            <a:r>
              <a:rPr lang="en-US" sz="2436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O Diferencial: Personalização vs. Framework</a:t>
            </a:r>
            <a:endParaRPr sz="2436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28625" y="1379386"/>
            <a:ext cx="4043363" cy="2514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2" name="Google Shape;212;p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2422" y="159369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600075" y="2336648"/>
            <a:ext cx="3693319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97"/>
              <a:buFont typeface="Calibri"/>
              <a:buNone/>
            </a:pPr>
            <a:r>
              <a:rPr lang="en-US" sz="139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Personalização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600075" y="2724197"/>
            <a:ext cx="369331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Identidade visual forte e reconhecível.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600075" y="2970656"/>
            <a:ext cx="369331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Uso estratégico do vermelho institucional.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600075" y="3217115"/>
            <a:ext cx="369331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Tipografia focada na legibilidade da marca.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00075" y="3463575"/>
            <a:ext cx="3693319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Design exclusivo que foge do "padrão".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4664869" y="1379386"/>
            <a:ext cx="4050506" cy="2514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9" name="Google Shape;219;p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79381" y="1593698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9"/>
          <p:cNvSpPr/>
          <p:nvPr/>
        </p:nvSpPr>
        <p:spPr>
          <a:xfrm>
            <a:off x="4843463" y="2336648"/>
            <a:ext cx="3700463" cy="27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005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397"/>
              <a:buFont typeface="Calibri"/>
              <a:buNone/>
            </a:pPr>
            <a:r>
              <a:rPr lang="en-US" sz="1397" b="1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Robustez Bootstrap</a:t>
            </a:r>
            <a:endParaRPr sz="1397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843463" y="2724197"/>
            <a:ext cx="3700463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Estrutura técnica testada e segura.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843463" y="2970656"/>
            <a:ext cx="3700463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Responsividade garantida em qualquer tela.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4843463" y="3217115"/>
            <a:ext cx="3700463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Agilidade no desenvolvimento de layout.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4843463" y="3463575"/>
            <a:ext cx="3700463" cy="175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7388"/>
              </a:lnSpc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942"/>
              <a:buFont typeface="Calibri"/>
              <a:buNone/>
            </a:pPr>
            <a:r>
              <a:rPr lang="en-US" sz="942" b="0" i="0" u="none" strike="noStrike" cap="none">
                <a:solidFill>
                  <a:srgbClr val="495057"/>
                </a:solidFill>
                <a:latin typeface="Calibri"/>
                <a:ea typeface="Calibri"/>
                <a:cs typeface="Calibri"/>
                <a:sym typeface="Calibri"/>
              </a:rPr>
              <a:t>Manutenção simplificada e padronizada.</a:t>
            </a:r>
            <a:endParaRPr sz="94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1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0"/>
          <p:cNvSpPr/>
          <p:nvPr/>
        </p:nvSpPr>
        <p:spPr>
          <a:xfrm>
            <a:off x="564356" y="396310"/>
            <a:ext cx="8015288" cy="430053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7952B3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0"/>
          <p:cNvSpPr/>
          <p:nvPr/>
        </p:nvSpPr>
        <p:spPr>
          <a:xfrm>
            <a:off x="1000125" y="1332142"/>
            <a:ext cx="7143750" cy="544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2774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2862"/>
              <a:buFont typeface="Calibri"/>
              <a:buNone/>
            </a:pPr>
            <a:r>
              <a:rPr lang="en-US" sz="2862" b="1" i="0" u="none" strike="noStrike" cap="none">
                <a:solidFill>
                  <a:srgbClr val="7952B3"/>
                </a:solidFill>
                <a:latin typeface="Calibri"/>
                <a:ea typeface="Calibri"/>
                <a:cs typeface="Calibri"/>
                <a:sym typeface="Calibri"/>
              </a:rPr>
              <a:t>Conclusão e Encerramento</a:t>
            </a:r>
            <a:endParaRPr sz="286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000125" y="2162603"/>
            <a:ext cx="7143750" cy="312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9107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704"/>
              <a:buFont typeface="Calibri"/>
              <a:buNone/>
            </a:pPr>
            <a:r>
              <a:rPr lang="en-US" sz="1704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Obrigado</a:t>
            </a:r>
            <a:r>
              <a:rPr lang="en-US" sz="1704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pela </a:t>
            </a:r>
            <a:r>
              <a:rPr lang="en-US" sz="1704" b="0" i="0" u="none" strike="noStrike" cap="none" dirty="0" err="1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atenção</a:t>
            </a:r>
            <a:r>
              <a:rPr lang="en-US" sz="1704" b="0" i="0" u="none" strike="noStrike" cap="none" dirty="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sz="1704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1000125" y="2546579"/>
            <a:ext cx="7143750" cy="233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4115"/>
              </a:lnSpc>
              <a:spcBef>
                <a:spcPts val="0"/>
              </a:spcBef>
              <a:spcAft>
                <a:spcPts val="0"/>
              </a:spcAft>
              <a:buClr>
                <a:srgbClr val="7952B3"/>
              </a:buClr>
              <a:buSzPts val="1193"/>
              <a:buFont typeface="Calibri"/>
              <a:buNone/>
            </a:pPr>
            <a:endParaRPr sz="119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694</Words>
  <Application>Microsoft Office PowerPoint</Application>
  <PresentationFormat>Apresentação na tela (16:9)</PresentationFormat>
  <Paragraphs>101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PptxGenJS</dc:creator>
  <cp:lastModifiedBy>Henrique Alves de Souza</cp:lastModifiedBy>
  <cp:revision>4</cp:revision>
  <dcterms:created xsi:type="dcterms:W3CDTF">2026-02-09T11:20:52Z</dcterms:created>
  <dcterms:modified xsi:type="dcterms:W3CDTF">2026-02-09T12:34:44Z</dcterms:modified>
</cp:coreProperties>
</file>